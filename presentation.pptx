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Savol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Savol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"Agar ertaga O'zbekistonda dunyodagi eng katta oltin yoki neft koni topilsa, biz avtomatik ravishda boy davlatga aylanamizmi?"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</a:defRPr>
            </a:pPr>
            <a:r>
              <a:t>Tinglovchilardan javob 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Asosiy tushunchalar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Tabiiy resurslar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Neft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Gaz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Oltin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Ko'mir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Suv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Qishloq xo'jaligi yerlari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Afzalliklar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Resurslarning afzalliklari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✓ Ish o'rinlari yaratadi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✓ Eksport daromadi keltiradi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✓ Davlat budjetini to'ldiradi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✓ Infratuzilmani rivojlantiradi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D4BF"/>
                </a:solidFill>
              </a:defRPr>
            </a:pPr>
            <a:r>
              <a:t>Muvaffaqiyatli misollar: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1F5F9"/>
                </a:solidFill>
              </a:defRPr>
            </a:pPr>
            <a:r>
              <a:t>Saudi Arabia  |  Norway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Muammo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Lekin muammo ham bor...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BBF24"/>
                </a:solidFill>
              </a:defRPr>
            </a:pPr>
            <a:r>
              <a:t>"Resource Curse"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</a:defRPr>
            </a:pPr>
            <a:r>
              <a:t>(Resurslar la'nati) - Bu iqtisodiyotdagi mashhur tushuncha.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1F5F9"/>
                </a:solidFill>
              </a:defRPr>
            </a:pPr>
            <a:r>
              <a:t>• Ba'zi davlatlar resurslarga juda boy</a:t>
            </a:r>
          </a:p>
          <a:p>
            <a:pPr>
              <a:spcAft>
                <a:spcPts val="800"/>
              </a:spcAft>
              <a:defRPr sz="2000">
                <a:solidFill>
                  <a:srgbClr val="F1F5F9"/>
                </a:solidFill>
              </a:defRPr>
            </a:pPr>
            <a:r>
              <a:t>• Lekin aholi kambag'al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</a:defRPr>
            </a:pPr>
            <a:r>
              <a:t>Nega?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Sabablar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Resurslar la'natining sabablari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CA5A5"/>
                </a:solidFill>
              </a:defRPr>
            </a:pPr>
            <a:r>
              <a:t>• Korrupsiya</a:t>
            </a:r>
          </a:p>
          <a:p>
            <a:pPr>
              <a:spcAft>
                <a:spcPts val="800"/>
              </a:spcAft>
              <a:defRPr sz="2400">
                <a:solidFill>
                  <a:srgbClr val="FCA5A5"/>
                </a:solidFill>
              </a:defRPr>
            </a:pPr>
            <a:r>
              <a:t>• Noto'g'ri boshqaruv</a:t>
            </a:r>
          </a:p>
          <a:p>
            <a:pPr>
              <a:spcAft>
                <a:spcPts val="800"/>
              </a:spcAft>
              <a:defRPr sz="2400">
                <a:solidFill>
                  <a:srgbClr val="FCA5A5"/>
                </a:solidFill>
              </a:defRPr>
            </a:pPr>
            <a:r>
              <a:t>• Faqat bitta sohaga tayanish</a:t>
            </a:r>
          </a:p>
          <a:p>
            <a:pPr>
              <a:spcAft>
                <a:spcPts val="800"/>
              </a:spcAft>
              <a:defRPr sz="2400">
                <a:solidFill>
                  <a:srgbClr val="FCA5A5"/>
                </a:solidFill>
              </a:defRPr>
            </a:pPr>
            <a:r>
              <a:t>• Innovatsiyaning sustligi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Muvaffaqiyat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Boy davlat misoli - Norway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5EEAD4"/>
                </a:solidFill>
              </a:defRPr>
            </a:pPr>
            <a:r>
              <a:t>1. Neft topildi</a:t>
            </a:r>
          </a:p>
          <a:p>
            <a:pPr>
              <a:spcAft>
                <a:spcPts val="800"/>
              </a:spcAft>
              <a:defRPr sz="2200">
                <a:solidFill>
                  <a:srgbClr val="5EEAD4"/>
                </a:solidFill>
              </a:defRPr>
            </a:pPr>
            <a:r>
              <a:t>2. Daromadlar maxsus fondga yig'ildi</a:t>
            </a:r>
          </a:p>
          <a:p>
            <a:pPr>
              <a:spcAft>
                <a:spcPts val="800"/>
              </a:spcAft>
              <a:defRPr sz="2200">
                <a:solidFill>
                  <a:srgbClr val="5EEAD4"/>
                </a:solidFill>
              </a:defRPr>
            </a:pPr>
            <a:r>
              <a:t>3. Ta'lim va infratuzilmaga investitsiya qilindi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6EFAC"/>
                </a:solidFill>
              </a:defRPr>
            </a:pPr>
            <a:r>
              <a:t>Natija: "Dunyodagi eng yuqori yashash standartlaridan biri"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Ogohlantirish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Muammoli misol - Venezuela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</a:defRPr>
            </a:pPr>
            <a:r>
              <a:t>Juda katta neft zaxiralari, ammo iqtisodiy inqirozlar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CA5A5"/>
                </a:solidFill>
              </a:defRPr>
            </a:pPr>
            <a:r>
              <a:t>⚠ Noto'g'ri siyosat</a:t>
            </a:r>
          </a:p>
          <a:p>
            <a:pPr>
              <a:spcAft>
                <a:spcPts val="800"/>
              </a:spcAft>
              <a:defRPr sz="2200">
                <a:solidFill>
                  <a:srgbClr val="FCA5A5"/>
                </a:solidFill>
              </a:defRPr>
            </a:pPr>
            <a:r>
              <a:t>⚠ Yuqori inflyatsiya</a:t>
            </a:r>
          </a:p>
          <a:p>
            <a:pPr>
              <a:spcAft>
                <a:spcPts val="800"/>
              </a:spcAft>
              <a:defRPr sz="2200">
                <a:solidFill>
                  <a:srgbClr val="FCA5A5"/>
                </a:solidFill>
              </a:defRPr>
            </a:pPr>
            <a:r>
              <a:t>⚠ Neftga haddan tashqari bog'liqlik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Bizning davlat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O'zbekiston misolida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D4BF"/>
                </a:solidFill>
              </a:defRPr>
            </a:pPr>
            <a:r>
              <a:t>Bizning resurslarimiz: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Oltin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Mis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Uran</a:t>
            </a:r>
          </a:p>
          <a:p>
            <a:pPr>
              <a:spcAft>
                <a:spcPts val="800"/>
              </a:spcAft>
              <a:defRPr sz="2200">
                <a:solidFill>
                  <a:srgbClr val="F1F5F9"/>
                </a:solidFill>
              </a:defRPr>
            </a:pPr>
            <a:r>
              <a:t>• Tabiiy gaz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BBF24"/>
                </a:solidFill>
              </a:defRPr>
            </a:pPr>
            <a:r>
              <a:t>"Bu resurslardan qanday samarali foydalanish mumkin?"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Kelajak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Kelajakda qaysi resurs eng qimmat?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F1F5F9"/>
                </a:solidFill>
              </a:defRPr>
            </a:pPr>
            <a:r>
              <a:t>• Bilim</a:t>
            </a:r>
          </a:p>
          <a:p>
            <a:pPr>
              <a:spcAft>
                <a:spcPts val="800"/>
              </a:spcAft>
              <a:defRPr sz="2600">
                <a:solidFill>
                  <a:srgbClr val="F1F5F9"/>
                </a:solidFill>
              </a:defRPr>
            </a:pPr>
            <a:r>
              <a:t>• Texnologiya</a:t>
            </a:r>
          </a:p>
          <a:p>
            <a:pPr>
              <a:spcAft>
                <a:spcPts val="800"/>
              </a:spcAft>
              <a:defRPr sz="2600">
                <a:solidFill>
                  <a:srgbClr val="F1F5F9"/>
                </a:solidFill>
              </a:defRPr>
            </a:pPr>
            <a:r>
              <a:t>• Inson kapitali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5EEAD4"/>
                </a:solidFill>
              </a:defRPr>
            </a:pPr>
            <a:r>
              <a:t>"21-asrning eng muhim resursi - insonning bilimi."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Muhokama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Muhokama (Discussion)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1F5F9"/>
                </a:solidFill>
              </a:defRPr>
            </a:pPr>
            <a:r>
              <a:t>1. Tabiiy resurslarsiz boy bo'lish mumkinmi?</a:t>
            </a:r>
          </a:p>
          <a:p>
            <a:pPr>
              <a:spcAft>
                <a:spcPts val="2000"/>
              </a:spcAft>
              <a:defRPr sz="2000">
                <a:solidFill>
                  <a:srgbClr val="F1F5F9"/>
                </a:solidFill>
              </a:defRPr>
            </a:pPr>
            <a:r>
              <a:t>2. O'zbekistonda qaysi resursdan yaxshi foydalanilmayapti?</a:t>
            </a:r>
          </a:p>
          <a:p>
            <a:pPr>
              <a:spcAft>
                <a:spcPts val="2000"/>
              </a:spcAft>
              <a:defRPr sz="2000">
                <a:solidFill>
                  <a:srgbClr val="F1F5F9"/>
                </a:solidFill>
              </a:defRPr>
            </a:pPr>
            <a:r>
              <a:t>3. Siz bosh vazir bo'lsangiz, resurs daromadlarini nimaga sarflardingiz?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DD4BF"/>
                </a:solidFill>
              </a:defRPr>
            </a:pPr>
            <a:r>
              <a:t>Xulosa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EEAD4"/>
                </a:solidFill>
              </a:defRPr>
            </a:pPr>
            <a: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1">
                <a:solidFill>
                  <a:srgbClr val="5EEAD4"/>
                </a:solidFill>
              </a:defRPr>
            </a:pPr>
            <a:r>
              <a:t>"Resources can make a country rich, but only good institutions, education, and innovation can make it prosperous in the long run."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"Resurslar davlatni boy qilishi mumkin, lekin faqat yaxshi institutlar, ta'lim va innovatsiya uni uzoq muddatda farovon qiladi."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94A3B8"/>
                </a:solidFill>
              </a:defRPr>
            </a:pPr>
            <a:r>
              <a:t>Bu mavzu iqtisodiyot, siyosat, tarix va kelajak texnologiyalarini birlashtiradi.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