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 spc="300">
                <a:solidFill>
                  <a:srgbClr val="E3C77A"/>
                </a:solidFill>
                <a:latin typeface="Arial"/>
              </a:rPr>
              <a:t>KIRISH  —  MUNOZARA SAVOLI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993392"/>
            <a:ext cx="640080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F1EA"/>
                </a:solidFill>
                <a:latin typeface="Georgia"/>
              </a:rPr>
              <a:t>Agar ertaga O‘zbekistonda dunyodagi eng katta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F1EA"/>
                </a:solidFill>
                <a:latin typeface="Georgia"/>
              </a:rPr>
              <a:t>oltin yoki neft koni topilsa — biz avtomatik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F1EA"/>
                </a:solidFill>
                <a:latin typeface="Georgia"/>
              </a:rPr>
              <a:t>ravishda </a:t>
            </a:r>
            <a:r>
              <a:rPr sz="3800" b="1" i="0">
                <a:solidFill>
                  <a:srgbClr val="E3C77A"/>
                </a:solidFill>
                <a:latin typeface="Georgia"/>
              </a:rPr>
              <a:t>boy davlatga</a:t>
            </a:r>
            <a:r>
              <a:rPr sz="3800" b="1" i="0">
                <a:solidFill>
                  <a:srgbClr val="F4F1EA"/>
                </a:solidFill>
                <a:latin typeface="Georgia"/>
              </a:rPr>
              <a:t> aylanamizmi?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A2B2C4"/>
                </a:solidFill>
                <a:latin typeface="Arial"/>
              </a:rPr>
              <a:t>Tinglovchilardan javoblarini so‘rang — munozarani shu yerdan boshlaymiz.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01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ASOSIY TUSHUNCHA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Tabiiy resurslar nima?</a:t>
            </a:r>
          </a:p>
        </p:txBody>
      </p:sp>
      <p:sp>
        <p:nvSpPr>
          <p:cNvPr id="6" name="Diamond 5"/>
          <p:cNvSpPr/>
          <p:nvPr/>
        </p:nvSpPr>
        <p:spPr>
          <a:xfrm>
            <a:off x="841248" y="2395728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31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4F1EA"/>
                </a:solidFill>
                <a:latin typeface="Arial"/>
              </a:rPr>
              <a:t>Neft</a:t>
            </a:r>
          </a:p>
        </p:txBody>
      </p:sp>
      <p:sp>
        <p:nvSpPr>
          <p:cNvPr id="8" name="Diamond 7"/>
          <p:cNvSpPr/>
          <p:nvPr/>
        </p:nvSpPr>
        <p:spPr>
          <a:xfrm>
            <a:off x="3401568" y="2395728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233172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4F1EA"/>
                </a:solidFill>
                <a:latin typeface="Arial"/>
              </a:rPr>
              <a:t>Tabiiy gaz</a:t>
            </a:r>
          </a:p>
        </p:txBody>
      </p:sp>
      <p:sp>
        <p:nvSpPr>
          <p:cNvPr id="10" name="Diamond 9"/>
          <p:cNvSpPr/>
          <p:nvPr/>
        </p:nvSpPr>
        <p:spPr>
          <a:xfrm>
            <a:off x="841248" y="3054095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990087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4F1EA"/>
                </a:solidFill>
                <a:latin typeface="Arial"/>
              </a:rPr>
              <a:t>Oltin</a:t>
            </a:r>
          </a:p>
        </p:txBody>
      </p:sp>
      <p:sp>
        <p:nvSpPr>
          <p:cNvPr id="12" name="Diamond 11"/>
          <p:cNvSpPr/>
          <p:nvPr/>
        </p:nvSpPr>
        <p:spPr>
          <a:xfrm>
            <a:off x="3401568" y="3054095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2990087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4F1EA"/>
                </a:solidFill>
                <a:latin typeface="Arial"/>
              </a:rPr>
              <a:t>Mis</a:t>
            </a:r>
          </a:p>
        </p:txBody>
      </p:sp>
      <p:sp>
        <p:nvSpPr>
          <p:cNvPr id="14" name="Diamond 13"/>
          <p:cNvSpPr/>
          <p:nvPr/>
        </p:nvSpPr>
        <p:spPr>
          <a:xfrm>
            <a:off x="841248" y="3712464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4845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4F1EA"/>
                </a:solidFill>
                <a:latin typeface="Arial"/>
              </a:rPr>
              <a:t>Ko‘mir</a:t>
            </a:r>
          </a:p>
        </p:txBody>
      </p:sp>
      <p:sp>
        <p:nvSpPr>
          <p:cNvPr id="16" name="Diamond 15"/>
          <p:cNvSpPr/>
          <p:nvPr/>
        </p:nvSpPr>
        <p:spPr>
          <a:xfrm>
            <a:off x="3401568" y="3712464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8" y="364845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4F1EA"/>
                </a:solidFill>
                <a:latin typeface="Arial"/>
              </a:rPr>
              <a:t>Suv</a:t>
            </a:r>
          </a:p>
        </p:txBody>
      </p:sp>
      <p:sp>
        <p:nvSpPr>
          <p:cNvPr id="18" name="Diamond 17"/>
          <p:cNvSpPr/>
          <p:nvPr/>
        </p:nvSpPr>
        <p:spPr>
          <a:xfrm>
            <a:off x="841248" y="4370832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30682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F4F1EA"/>
                </a:solidFill>
                <a:latin typeface="Arial"/>
              </a:rPr>
              <a:t>Qishloq xo‘jaligi yerlari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A2B2C4"/>
                </a:solidFill>
                <a:latin typeface="Arial"/>
              </a:rPr>
              <a:t>Tabiat bizga bergan boylik — ulardan qanday foydalanishimiz esa o‘zimizga bog‘liq.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02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IMKONIYATLAR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Resurslarning afzalliklari</a:t>
            </a:r>
          </a:p>
        </p:txBody>
      </p:sp>
      <p:sp>
        <p:nvSpPr>
          <p:cNvPr id="6" name="Diamond 5"/>
          <p:cNvSpPr/>
          <p:nvPr/>
        </p:nvSpPr>
        <p:spPr>
          <a:xfrm>
            <a:off x="841248" y="2395728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86000"/>
            <a:ext cx="58155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4F1EA"/>
                </a:solidFill>
                <a:latin typeface="Arial"/>
              </a:rPr>
              <a:t>Ish o‘rinlari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2B2C4"/>
                </a:solidFill>
                <a:latin typeface="Arial"/>
              </a:rPr>
              <a:t>Sanoat va xizmat sohalarida bandlik yaratadi</a:t>
            </a:r>
          </a:p>
        </p:txBody>
      </p:sp>
      <p:sp>
        <p:nvSpPr>
          <p:cNvPr id="8" name="Diamond 7"/>
          <p:cNvSpPr/>
          <p:nvPr/>
        </p:nvSpPr>
        <p:spPr>
          <a:xfrm>
            <a:off x="841248" y="3328416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218688"/>
            <a:ext cx="58155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4F1EA"/>
                </a:solidFill>
                <a:latin typeface="Arial"/>
              </a:rPr>
              <a:t>Eksport daromadi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2B2C4"/>
                </a:solidFill>
                <a:latin typeface="Arial"/>
              </a:rPr>
              <a:t>Tashqi savdo orqali valyuta oqimi</a:t>
            </a:r>
          </a:p>
        </p:txBody>
      </p:sp>
      <p:sp>
        <p:nvSpPr>
          <p:cNvPr id="10" name="Diamond 9"/>
          <p:cNvSpPr/>
          <p:nvPr/>
        </p:nvSpPr>
        <p:spPr>
          <a:xfrm>
            <a:off x="841248" y="4261104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151376"/>
            <a:ext cx="58155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4F1EA"/>
                </a:solidFill>
                <a:latin typeface="Arial"/>
              </a:rPr>
              <a:t>Davlat budjeti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2B2C4"/>
                </a:solidFill>
                <a:latin typeface="Arial"/>
              </a:rPr>
              <a:t>Soliq va to‘lovlar bilan to‘ldiriladi</a:t>
            </a:r>
          </a:p>
        </p:txBody>
      </p:sp>
      <p:sp>
        <p:nvSpPr>
          <p:cNvPr id="12" name="Diamond 11"/>
          <p:cNvSpPr/>
          <p:nvPr/>
        </p:nvSpPr>
        <p:spPr>
          <a:xfrm>
            <a:off x="841248" y="5193792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5084064"/>
            <a:ext cx="58155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4F1EA"/>
                </a:solidFill>
                <a:latin typeface="Arial"/>
              </a:rPr>
              <a:t>Infratuzilma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2B2C4"/>
                </a:solidFill>
                <a:latin typeface="Arial"/>
              </a:rPr>
              <a:t>Yo‘l, energiya va shaharlar rivojlanadi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E3C77A"/>
                </a:solidFill>
                <a:latin typeface="Arial"/>
              </a:rPr>
              <a:t>MISOLLAR:   </a:t>
            </a:r>
            <a:r>
              <a:rPr sz="1300" b="0" i="0">
                <a:solidFill>
                  <a:srgbClr val="F4F1EA"/>
                </a:solidFill>
                <a:latin typeface="Arial"/>
              </a:rPr>
              <a:t>Saudi Arabia   ·   Norvegiya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03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MUAMMO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Lekin muammo ham bor…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6126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 i="0">
                <a:solidFill>
                  <a:srgbClr val="E3C77A"/>
                </a:solidFill>
                <a:latin typeface="Georgia"/>
              </a:rPr>
              <a:t>“Resource Curse”</a:t>
            </a:r>
          </a:p>
          <a:p>
            <a:pPr algn="l"/>
            <a:r>
              <a:rPr sz="1600" b="0" i="1">
                <a:solidFill>
                  <a:srgbClr val="A2B2C4"/>
                </a:solidFill>
                <a:latin typeface="Arial"/>
              </a:rPr>
              <a:t>Resurslar la’nati — iqtisodiyotdagi mashhur tushuncha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6126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F4F1EA"/>
                </a:solidFill>
                <a:latin typeface="Arial"/>
              </a:rPr>
              <a:t>Ba’zi davlatlar tabiiy resurslarga juda boy,</a:t>
            </a:r>
          </a:p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F4F1EA"/>
                </a:solidFill>
                <a:latin typeface="Arial"/>
              </a:rPr>
              <a:t>ammo aholisi kambag‘alligicha qoladi.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C9A24B"/>
                </a:solidFill>
                <a:latin typeface="Georgia"/>
              </a:rPr>
              <a:t>Nega shunday bo‘ladi?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04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TAHLIL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Resurslar la’natining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14016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6888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Korrupsiya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Daromadlar tor doiraga yo‘naltiriladi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3218688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414016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46888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Noto‘g‘ri boshqaruv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Strategiya va shaffoflik yetishmaydi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218688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42816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8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Bitta sohaga tayanish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Iqtisodiyot diversifikatsiya qilinmaydi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5047488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242816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29768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Sust innovatsiya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Texnologiya va ta’limga investitsiya kam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5047488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05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MUVAFFAQIYAT MISOLI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Norvegiya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76856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3172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Neft topildi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1969-yil, Shimoliy dengizda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3081528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00984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55848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Maxsus fond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Daromadlar suveren fondga yig‘ildi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4105656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2511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79976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Investitsiya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Ta’lim va infratuzilmaga yo‘naltirildi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5129784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E3C77A"/>
                </a:solidFill>
                <a:latin typeface="Arial"/>
              </a:rPr>
              <a:t>NATIJA:   </a:t>
            </a:r>
            <a:r>
              <a:rPr sz="1500" b="0" i="0">
                <a:solidFill>
                  <a:srgbClr val="F4F1EA"/>
                </a:solidFill>
                <a:latin typeface="Arial"/>
              </a:rPr>
              <a:t>dunyodagi eng yuqori yashash standartlaridan biri.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06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OGOHLANTIRUVCHI MISOL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Venesuela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4F1EA"/>
                </a:solidFill>
                <a:latin typeface="Arial"/>
              </a:rPr>
              <a:t>Juda katta neft zaxiralari — ammo chuqur iqtisodiy inqirozlar.</a:t>
            </a:r>
          </a:p>
        </p:txBody>
      </p:sp>
      <p:sp>
        <p:nvSpPr>
          <p:cNvPr id="7" name="Diamond 6"/>
          <p:cNvSpPr/>
          <p:nvPr/>
        </p:nvSpPr>
        <p:spPr>
          <a:xfrm>
            <a:off x="841248" y="3264408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58155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4F1EA"/>
                </a:solidFill>
                <a:latin typeface="Arial"/>
              </a:rPr>
              <a:t>Noto‘g‘ri siyosat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2B2C4"/>
                </a:solidFill>
                <a:latin typeface="Arial"/>
              </a:rPr>
              <a:t>Qisqa muddatli, nomutanosib qarorlar</a:t>
            </a:r>
          </a:p>
        </p:txBody>
      </p:sp>
      <p:sp>
        <p:nvSpPr>
          <p:cNvPr id="9" name="Diamond 8"/>
          <p:cNvSpPr/>
          <p:nvPr/>
        </p:nvSpPr>
        <p:spPr>
          <a:xfrm>
            <a:off x="841248" y="4197096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4087368"/>
            <a:ext cx="58155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4F1EA"/>
                </a:solidFill>
                <a:latin typeface="Arial"/>
              </a:rPr>
              <a:t>Yuqori inflyatsiya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2B2C4"/>
                </a:solidFill>
                <a:latin typeface="Arial"/>
              </a:rPr>
              <a:t>Pul qadrsizlanishi, narxlar o‘sishi</a:t>
            </a:r>
          </a:p>
        </p:txBody>
      </p:sp>
      <p:sp>
        <p:nvSpPr>
          <p:cNvPr id="11" name="Diamond 10"/>
          <p:cNvSpPr/>
          <p:nvPr/>
        </p:nvSpPr>
        <p:spPr>
          <a:xfrm>
            <a:off x="841248" y="5129784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5020056"/>
            <a:ext cx="581558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4F1EA"/>
                </a:solidFill>
                <a:latin typeface="Arial"/>
              </a:rPr>
              <a:t>Neftga bog‘liqlik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A2B2C4"/>
                </a:solidFill>
                <a:latin typeface="Arial"/>
              </a:rPr>
              <a:t>Boshqa sohalar rivojlanmay qoldi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07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BIZNING DAVLAT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O‘zbekiston misolida</a:t>
            </a:r>
          </a:p>
        </p:txBody>
      </p:sp>
      <p:sp>
        <p:nvSpPr>
          <p:cNvPr id="6" name="Diamond 5"/>
          <p:cNvSpPr/>
          <p:nvPr/>
        </p:nvSpPr>
        <p:spPr>
          <a:xfrm>
            <a:off x="841248" y="2450592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3774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4F1EA"/>
                </a:solidFill>
                <a:latin typeface="Arial"/>
              </a:rPr>
              <a:t>Oltin</a:t>
            </a:r>
          </a:p>
        </p:txBody>
      </p:sp>
      <p:sp>
        <p:nvSpPr>
          <p:cNvPr id="8" name="Diamond 7"/>
          <p:cNvSpPr/>
          <p:nvPr/>
        </p:nvSpPr>
        <p:spPr>
          <a:xfrm>
            <a:off x="3401568" y="2450592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23774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4F1EA"/>
                </a:solidFill>
                <a:latin typeface="Arial"/>
              </a:rPr>
              <a:t>Mis</a:t>
            </a:r>
          </a:p>
        </p:txBody>
      </p:sp>
      <p:sp>
        <p:nvSpPr>
          <p:cNvPr id="10" name="Diamond 9"/>
          <p:cNvSpPr/>
          <p:nvPr/>
        </p:nvSpPr>
        <p:spPr>
          <a:xfrm>
            <a:off x="841248" y="3163824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09067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4F1EA"/>
                </a:solidFill>
                <a:latin typeface="Arial"/>
              </a:rPr>
              <a:t>Uran</a:t>
            </a:r>
          </a:p>
        </p:txBody>
      </p:sp>
      <p:sp>
        <p:nvSpPr>
          <p:cNvPr id="12" name="Diamond 11"/>
          <p:cNvSpPr/>
          <p:nvPr/>
        </p:nvSpPr>
        <p:spPr>
          <a:xfrm>
            <a:off x="3401568" y="3163824"/>
            <a:ext cx="101600" cy="101600"/>
          </a:xfrm>
          <a:prstGeom prst="diamond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309067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4F1EA"/>
                </a:solidFill>
                <a:latin typeface="Arial"/>
              </a:rPr>
              <a:t>Tabiiy gaz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6126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200" b="1" i="0">
                <a:solidFill>
                  <a:srgbClr val="F4F1EA"/>
                </a:solidFill>
                <a:latin typeface="Georgia"/>
              </a:rPr>
              <a:t>Bu resurslardan qanday qilib</a:t>
            </a:r>
          </a:p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E3C77A"/>
                </a:solidFill>
                <a:latin typeface="Georgia"/>
              </a:rPr>
              <a:t>samarali</a:t>
            </a:r>
            <a:r>
              <a:rPr sz="2200" b="1" i="0">
                <a:solidFill>
                  <a:srgbClr val="F4F1EA"/>
                </a:solidFill>
                <a:latin typeface="Georgia"/>
              </a:rPr>
              <a:t> foydalanish mumkin?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08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KELAJAK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Eng qimmat resurs nima bo‘ladi?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31136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8600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Bilim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Ta’lim va malaka — yangi boylik manbai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3035808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63824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18688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Texnologiya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Innovatsiya iqtisodiy o‘sishni belgilaydi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3968496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9651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9A24B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151376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Inson kapitali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2B2C4"/>
                </a:solidFill>
                <a:latin typeface="Arial"/>
              </a:rPr>
              <a:t>Odamlar — davlatning asosiy resursi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4901184"/>
            <a:ext cx="420624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3C77A"/>
                </a:solidFill>
                <a:latin typeface="Georgia"/>
              </a:rPr>
              <a:t>“21-asrning eng muhim resursi — insonning bilimi.”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09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300">
                <a:solidFill>
                  <a:srgbClr val="E3C77A"/>
                </a:solidFill>
                <a:latin typeface="Arial"/>
              </a:rPr>
              <a:t>MUNOZARA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42416"/>
            <a:ext cx="566928" cy="30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Muhokama uchun savollar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4B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468880"/>
            <a:ext cx="5257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4F1EA"/>
                </a:solidFill>
                <a:latin typeface="Arial"/>
              </a:rPr>
              <a:t>Tabiiy resurslarsiz boy bo‘lish mumkinmi?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3255264"/>
            <a:ext cx="402336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4B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47872"/>
            <a:ext cx="5257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4F1EA"/>
                </a:solidFill>
                <a:latin typeface="Arial"/>
              </a:rPr>
              <a:t>O‘zbekistonda qaysi resursdan yetarlicha foydalanilmayapti?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4334256"/>
            <a:ext cx="402336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81144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9A24B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626864"/>
            <a:ext cx="5257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4F1EA"/>
                </a:solidFill>
                <a:latin typeface="Arial"/>
              </a:rPr>
              <a:t>Bosh vazir bo‘lsangiz, resurs daromadlarini nimaga sarflardingiz?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5413248"/>
            <a:ext cx="4023360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10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 spc="350">
                <a:solidFill>
                  <a:srgbClr val="E3C77A"/>
                </a:solidFill>
                <a:latin typeface="Arial"/>
              </a:rPr>
              <a:t>XULOSA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847088"/>
            <a:ext cx="640080" cy="381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300" b="1" i="0">
                <a:solidFill>
                  <a:srgbClr val="F4F1EA"/>
                </a:solidFill>
                <a:latin typeface="Georgia"/>
              </a:rPr>
              <a:t>Resurslar davlatni </a:t>
            </a:r>
            <a:r>
              <a:rPr sz="3300" b="1" i="0">
                <a:solidFill>
                  <a:srgbClr val="E3C77A"/>
                </a:solidFill>
                <a:latin typeface="Georgia"/>
              </a:rPr>
              <a:t>boy</a:t>
            </a:r>
            <a:r>
              <a:rPr sz="3300" b="1" i="0">
                <a:solidFill>
                  <a:srgbClr val="F4F1EA"/>
                </a:solidFill>
                <a:latin typeface="Georgia"/>
              </a:rPr>
              <a:t> qilishi mumkin,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300" b="1" i="0">
                <a:solidFill>
                  <a:srgbClr val="F4F1EA"/>
                </a:solidFill>
                <a:latin typeface="Georgia"/>
              </a:rPr>
              <a:t>lekin uni uzoq muddatda </a:t>
            </a:r>
            <a:r>
              <a:rPr sz="3300" b="1" i="0">
                <a:solidFill>
                  <a:srgbClr val="E3C77A"/>
                </a:solidFill>
                <a:latin typeface="Georgia"/>
              </a:rPr>
              <a:t>farovon</a:t>
            </a:r>
            <a:r>
              <a:rPr sz="3300" b="1" i="0">
                <a:solidFill>
                  <a:srgbClr val="F4F1EA"/>
                </a:solidFill>
                <a:latin typeface="Georgia"/>
              </a:rPr>
              <a:t> qiladigan narsa —</a:t>
            </a:r>
          </a:p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F4F1EA"/>
                </a:solidFill>
                <a:latin typeface="Georgia"/>
              </a:rPr>
              <a:t>yaxshi institutlar, ta’lim va innovatsiya.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A2B2C4"/>
                </a:solidFill>
                <a:latin typeface="Georgia"/>
              </a:rPr>
              <a:t>“Resources can make a country rich, but only good institutions, education, and innovation can make it prosperous in the long run.”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2B2C4"/>
                </a:solidFill>
                <a:latin typeface="Arial"/>
              </a:rPr>
              <a:t>Bu mavzu iqtisodiyot, siyosat, tarix va kelajak texnologiyalarini bir nuqtada birlashtiradi.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A2B2C4"/>
                </a:solidFill>
                <a:latin typeface="Arial"/>
              </a:rPr>
              <a:t>TABIIY RESURSLAR VA IQTISODIY RIVOJLANISH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3C77A"/>
                </a:solidFill>
                <a:latin typeface="Arial"/>
              </a:rPr>
              <a:t>11</a:t>
            </a:r>
            <a:r>
              <a:rPr sz="1100" b="0" i="0">
                <a:solidFill>
                  <a:srgbClr val="A2B2C4"/>
                </a:solidFill>
                <a:latin typeface="Arial"/>
              </a:rPr>
              <a:t>  /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355080"/>
            <a:ext cx="10543032" cy="9525"/>
          </a:xfrm>
          <a:prstGeom prst="rect">
            <a:avLst/>
          </a:prstGeom>
          <a:solidFill>
            <a:srgbClr val="3C5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