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0"/>
          </a:xfrm>
          <a:prstGeom prst="rect">
            <a:avLst/>
          </a:prstGeom>
          <a:solidFill>
            <a:srgbClr val="B4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D2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7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🤔 Savol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FFFFFF"/>
                </a:solidFill>
                <a:latin typeface="Segoe UI"/>
              </a:defRPr>
            </a:pPr>
            <a:r>
              <a:t>Agar ertaga O‘zbekistonda dunyodagi eng katta oltin yoki neft koni topilsa,</a:t>
            </a:r>
            <a:br/>
            <a:r>
              <a:t>biz avtomatik ravishda boy davlatga aylanamizmi?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754880"/>
            <a:ext cx="5486400" cy="914400"/>
          </a:xfrm>
          <a:prstGeom prst="roundRect">
            <a:avLst/>
          </a:prstGeom>
          <a:solidFill>
            <a:srgbClr val="785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D700"/>
                </a:solidFill>
                <a:latin typeface="Segoe UI"/>
              </a:defRPr>
            </a:pPr>
            <a:r>
              <a:t>💬 Tinglovchilardan javob oling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0" y="4114800"/>
            <a:ext cx="1371600" cy="1371600"/>
          </a:xfrm>
          <a:prstGeom prst="ellipse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0" y="5029200"/>
            <a:ext cx="731520" cy="731520"/>
          </a:xfrm>
          <a:prstGeom prst="ellipse">
            <a:avLst/>
          </a:prstGeom>
          <a:solidFill>
            <a:srgbClr val="D2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200400" cy="1828800"/>
          </a:xfrm>
          <a:prstGeom prst="roundRect">
            <a:avLst/>
          </a:prstGeom>
          <a:solidFill>
            <a:srgbClr val="966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10312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 i="0">
                <a:solidFill>
                  <a:srgbClr val="FFD700"/>
                </a:solidFill>
                <a:latin typeface="Segoe UI"/>
              </a:defRPr>
            </a:pPr>
            <a:r>
              <a:t>💰🏆💎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5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C8FFE6"/>
                </a:solidFill>
                <a:latin typeface="Segoe UI"/>
              </a:defRPr>
            </a:pPr>
            <a:r>
              <a:t>🌍 Tabiiy resurslar nima?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645920"/>
            <a:ext cx="4389120" cy="914400"/>
          </a:xfrm>
          <a:prstGeom prst="roundRect">
            <a:avLst/>
          </a:prstGeom>
          <a:solidFill>
            <a:srgbClr val="28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🛢️ Neft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4389120" cy="914400"/>
          </a:xfrm>
          <a:prstGeom prst="roundRect">
            <a:avLst/>
          </a:prstGeom>
          <a:solidFill>
            <a:srgbClr val="326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🔥 Gaz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880360"/>
            <a:ext cx="4389120" cy="914400"/>
          </a:xfrm>
          <a:prstGeom prst="roundRect">
            <a:avLst/>
          </a:prstGeom>
          <a:solidFill>
            <a:srgbClr val="647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🥇 Oltin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880360"/>
            <a:ext cx="4389120" cy="914400"/>
          </a:xfrm>
          <a:prstGeom prst="roundRect">
            <a:avLst/>
          </a:prstGeom>
          <a:solidFill>
            <a:srgbClr val="503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🪙 Mis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114800"/>
            <a:ext cx="4389120" cy="914400"/>
          </a:xfrm>
          <a:prstGeom prst="roundRect">
            <a:avLst/>
          </a:prstGeom>
          <a:solidFill>
            <a:srgbClr val="3C3C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🪨 Ko‘mir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114800"/>
            <a:ext cx="4389120" cy="914400"/>
          </a:xfrm>
          <a:prstGeom prst="roundRect">
            <a:avLst/>
          </a:prstGeom>
          <a:solidFill>
            <a:srgbClr val="1E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💧 Suv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349240"/>
            <a:ext cx="4389120" cy="914400"/>
          </a:xfrm>
          <a:prstGeom prst="roundRect">
            <a:avLst/>
          </a:prstGeom>
          <a:solidFill>
            <a:srgbClr val="286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🌱 Qishloq xo‘jaligi yerlari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5486400"/>
            <a:ext cx="4114800" cy="914400"/>
          </a:xfrm>
          <a:prstGeom prst="roundRect">
            <a:avLst/>
          </a:prstGeom>
          <a:solidFill>
            <a:srgbClr val="007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557784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C8FFE6"/>
                </a:solidFill>
                <a:latin typeface="Segoe UI"/>
              </a:defRPr>
            </a:pPr>
            <a:r>
              <a:t>🌎 Yer sharining boyliklari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1E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0" y="0"/>
            <a:ext cx="137160" cy="6858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DC64"/>
                </a:solidFill>
                <a:latin typeface="Segoe UI"/>
              </a:defRPr>
            </a:pPr>
            <a:r>
              <a:t>📈 Resurslarning afzalliklari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6400800" cy="822960"/>
          </a:xfrm>
          <a:prstGeom prst="roundRect">
            <a:avLst/>
          </a:prstGeom>
          <a:solidFill>
            <a:srgbClr val="284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✅ Ish o‘rinlari yaratadi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834640"/>
            <a:ext cx="6400800" cy="822960"/>
          </a:xfrm>
          <a:prstGeom prst="roundRect">
            <a:avLst/>
          </a:prstGeom>
          <a:solidFill>
            <a:srgbClr val="284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💰 Eksport daromadi keltiradi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6400800" cy="822960"/>
          </a:xfrm>
          <a:prstGeom prst="roundRect">
            <a:avLst/>
          </a:prstGeom>
          <a:solidFill>
            <a:srgbClr val="284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🏦 Davlat budjetini to‘ldiradi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199"/>
            <a:ext cx="6400800" cy="822960"/>
          </a:xfrm>
          <a:prstGeom prst="roundRect">
            <a:avLst/>
          </a:prstGeom>
          <a:solidFill>
            <a:srgbClr val="284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🏗️ Infratuzilmani rivojlantiradi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743200"/>
            <a:ext cx="3657600" cy="2286000"/>
          </a:xfrm>
          <a:prstGeom prst="roundRect">
            <a:avLst/>
          </a:prstGeom>
          <a:solidFill>
            <a:srgbClr val="B48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🏆 Misollar:</a:t>
            </a:r>
            <a:br/>
            <a:br/>
            <a:r>
              <a:t>🇸🇦 Saudi Arabia</a:t>
            </a:r>
            <a:br/>
            <a:r>
              <a:t>🇳🇴 Norway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0" y="4572000"/>
            <a:ext cx="2286000" cy="2286000"/>
          </a:xfrm>
          <a:prstGeom prst="ellipse">
            <a:avLst/>
          </a:prstGeom>
          <a:solidFill>
            <a:srgbClr val="28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50292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 i="0">
                <a:solidFill>
                  <a:srgbClr val="FFD700"/>
                </a:solidFill>
                <a:latin typeface="Segoe UI"/>
              </a:defRPr>
            </a:pPr>
            <a:r>
              <a:t>💵💰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2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781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3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9664"/>
                </a:solidFill>
                <a:latin typeface="Segoe UI"/>
              </a:defRPr>
            </a:pPr>
            <a:r>
              <a:t>⚠️ Lekin muammo ham bor...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3C3C"/>
                </a:solidFill>
                <a:latin typeface="Segoe UI"/>
              </a:defRPr>
            </a:pPr>
            <a:r>
              <a:t>"Resource Curse"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FFC896"/>
                </a:solidFill>
                <a:latin typeface="Segoe UI"/>
              </a:defRPr>
            </a:pPr>
            <a:r>
              <a:t>(Resurslar la‘nati)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DCDCDC"/>
                </a:solidFill>
                <a:latin typeface="Segoe UI"/>
              </a:defRPr>
            </a:pPr>
            <a:r>
              <a:t>Bu iqtisodiyotdagi mashhur tushuncha: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297680"/>
            <a:ext cx="7315200" cy="640080"/>
          </a:xfrm>
          <a:prstGeom prst="roundRect">
            <a:avLst/>
          </a:prstGeom>
          <a:solidFill>
            <a:srgbClr val="64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C8C8"/>
                </a:solidFill>
                <a:latin typeface="Segoe UI"/>
              </a:defRPr>
            </a:pPr>
            <a:r>
              <a:t>💢 Ba‘zi davlatlar resurslarga juda boy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5029200"/>
            <a:ext cx="7315200" cy="640080"/>
          </a:xfrm>
          <a:prstGeom prst="roundRect">
            <a:avLst/>
          </a:prstGeom>
          <a:solidFill>
            <a:srgbClr val="64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C8C8"/>
                </a:solidFill>
                <a:latin typeface="Segoe UI"/>
              </a:defRPr>
            </a:pPr>
            <a:r>
              <a:t>😔 Lekin aholi kambag‘al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943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C107"/>
                </a:solidFill>
                <a:latin typeface="Segoe UI"/>
              </a:defRPr>
            </a:pPr>
            <a:r>
              <a:t>❓ Nega?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321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06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783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DCB4FF"/>
                </a:solidFill>
                <a:latin typeface="Segoe UI"/>
              </a:defRPr>
            </a:pPr>
            <a:r>
              <a:t>🔍 Resurslar la‘natining sabablari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1645920"/>
            <a:ext cx="731520" cy="731520"/>
          </a:xfrm>
          <a:prstGeom prst="ellipse">
            <a:avLst/>
          </a:prstGeom>
          <a:solidFill>
            <a:srgbClr val="783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645920"/>
            <a:ext cx="6400800" cy="822960"/>
          </a:xfrm>
          <a:prstGeom prst="roundRect">
            <a:avLst/>
          </a:prstGeom>
          <a:solidFill>
            <a:srgbClr val="3C2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Korrupsiya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2834640"/>
            <a:ext cx="731520" cy="731520"/>
          </a:xfrm>
          <a:prstGeom prst="ellipse">
            <a:avLst/>
          </a:prstGeom>
          <a:solidFill>
            <a:srgbClr val="783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2834640"/>
            <a:ext cx="6400800" cy="822960"/>
          </a:xfrm>
          <a:prstGeom prst="roundRect">
            <a:avLst/>
          </a:prstGeom>
          <a:solidFill>
            <a:srgbClr val="3C2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Noto‘g‘ri boshqaruv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023360"/>
            <a:ext cx="731520" cy="731520"/>
          </a:xfrm>
          <a:prstGeom prst="ellipse">
            <a:avLst/>
          </a:prstGeom>
          <a:solidFill>
            <a:srgbClr val="783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4023360"/>
            <a:ext cx="6400800" cy="822960"/>
          </a:xfrm>
          <a:prstGeom prst="roundRect">
            <a:avLst/>
          </a:prstGeom>
          <a:solidFill>
            <a:srgbClr val="3C2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Faqat bitta sohaga tayanish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5212080"/>
            <a:ext cx="731520" cy="731520"/>
          </a:xfrm>
          <a:prstGeom prst="ellipse">
            <a:avLst/>
          </a:prstGeom>
          <a:solidFill>
            <a:srgbClr val="783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5212080"/>
            <a:ext cx="6400800" cy="822960"/>
          </a:xfrm>
          <a:prstGeom prst="roundRect">
            <a:avLst/>
          </a:prstGeom>
          <a:solidFill>
            <a:srgbClr val="3C2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Innovatsiyaning sustligi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0" y="4572000"/>
            <a:ext cx="1828800" cy="1828800"/>
          </a:xfrm>
          <a:prstGeom prst="ellipse">
            <a:avLst/>
          </a:prstGeom>
          <a:solidFill>
            <a:srgbClr val="503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0" y="1828800"/>
            <a:ext cx="1371600" cy="1371600"/>
          </a:xfrm>
          <a:prstGeom prst="ellipse">
            <a:avLst/>
          </a:prstGeom>
          <a:solidFill>
            <a:srgbClr val="643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145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0" y="0"/>
            <a:ext cx="182880" cy="6858000"/>
          </a:xfrm>
          <a:prstGeom prst="rect">
            <a:avLst/>
          </a:prstGeom>
          <a:solidFill>
            <a:srgbClr val="00B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96FFC8"/>
                </a:solidFill>
                <a:latin typeface="Segoe UI"/>
              </a:defRPr>
            </a:pPr>
            <a:r>
              <a:t>🏆 Boy davlat misoli - Norway 🇳🇴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645920"/>
            <a:ext cx="822960" cy="822960"/>
          </a:xfrm>
          <a:prstGeom prst="ellipse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1645920"/>
            <a:ext cx="6858000" cy="822960"/>
          </a:xfrm>
          <a:prstGeom prst="roundRect">
            <a:avLst/>
          </a:prstGeom>
          <a:solidFill>
            <a:srgbClr val="19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C8FFE6"/>
                </a:solidFill>
                <a:latin typeface="Segoe UI"/>
              </a:defRPr>
            </a:pPr>
            <a:r>
              <a:t>Neft topildi (1969)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834640"/>
            <a:ext cx="822960" cy="822960"/>
          </a:xfrm>
          <a:prstGeom prst="ellipse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2834640"/>
            <a:ext cx="6858000" cy="822960"/>
          </a:xfrm>
          <a:prstGeom prst="roundRect">
            <a:avLst/>
          </a:prstGeom>
          <a:solidFill>
            <a:srgbClr val="19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C8FFE6"/>
                </a:solidFill>
                <a:latin typeface="Segoe UI"/>
              </a:defRPr>
            </a:pPr>
            <a:r>
              <a:t>Daromadlar maxsus fondga yig‘ildi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023360"/>
            <a:ext cx="822960" cy="822960"/>
          </a:xfrm>
          <a:prstGeom prst="ellipse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4023360"/>
            <a:ext cx="6858000" cy="822960"/>
          </a:xfrm>
          <a:prstGeom prst="roundRect">
            <a:avLst/>
          </a:prstGeom>
          <a:solidFill>
            <a:srgbClr val="19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C8FFE6"/>
                </a:solidFill>
                <a:latin typeface="Segoe UI"/>
              </a:defRPr>
            </a:pPr>
            <a:r>
              <a:t>Ta‘lim va infratuzilmaga investitsiya qilindi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029200"/>
            <a:ext cx="10058400" cy="1097280"/>
          </a:xfrm>
          <a:prstGeom prst="roundRect">
            <a:avLst/>
          </a:prstGeom>
          <a:solidFill>
            <a:srgbClr val="96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096"/>
                </a:solidFill>
                <a:latin typeface="Segoe UI"/>
              </a:defRPr>
            </a:pPr>
            <a:r>
              <a:t>⭐ Natija: Dunyodagi eng yuqori yashash standartlaridan biri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0" y="3657600"/>
            <a:ext cx="1828800" cy="1828800"/>
          </a:xfrm>
          <a:prstGeom prst="ellipse">
            <a:avLst/>
          </a:prstGeom>
          <a:solidFill>
            <a:srgbClr val="00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0" y="402336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FFFFFF"/>
                </a:solidFill>
                <a:latin typeface="Segoe UI"/>
              </a:defRPr>
            </a:pPr>
            <a:r>
              <a:t>🇳🇴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50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C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B4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C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FF9696"/>
                </a:solidFill>
                <a:latin typeface="Segoe UI"/>
              </a:defRPr>
            </a:pPr>
            <a:r>
              <a:t>❌ Muammoli misol - Venezuela 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FFC8C8"/>
                </a:solidFill>
                <a:latin typeface="Segoe UI"/>
              </a:defRPr>
            </a:pPr>
            <a:r>
              <a:t>Juda katta neft zaxiralari, ammo iqtisodiy inqirozlar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43200"/>
            <a:ext cx="7315200" cy="914400"/>
          </a:xfrm>
          <a:prstGeom prst="roundRect">
            <a:avLst/>
          </a:prstGeom>
          <a:solidFill>
            <a:srgbClr val="64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C8C8"/>
                </a:solidFill>
                <a:latin typeface="Segoe UI"/>
              </a:defRPr>
            </a:pPr>
            <a:r>
              <a:t>🚫 Noto‘g‘ri siyosat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931920"/>
            <a:ext cx="7315200" cy="914400"/>
          </a:xfrm>
          <a:prstGeom prst="roundRect">
            <a:avLst/>
          </a:prstGeom>
          <a:solidFill>
            <a:srgbClr val="64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C8C8"/>
                </a:solidFill>
                <a:latin typeface="Segoe UI"/>
              </a:defRPr>
            </a:pPr>
            <a:r>
              <a:t>📉 Yuqori inflyatsiya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5120640"/>
            <a:ext cx="7315200" cy="914400"/>
          </a:xfrm>
          <a:prstGeom prst="roundRect">
            <a:avLst/>
          </a:prstGeom>
          <a:solidFill>
            <a:srgbClr val="64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C8C8"/>
                </a:solidFill>
                <a:latin typeface="Segoe UI"/>
              </a:defRPr>
            </a:pPr>
            <a:r>
              <a:t>⛓️ Neftga haddan tashqari bog‘liqlik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0" y="4114800"/>
            <a:ext cx="2286000" cy="2286000"/>
          </a:xfrm>
          <a:prstGeom prst="ellipse">
            <a:avLst/>
          </a:prstGeom>
          <a:solidFill>
            <a:srgbClr val="7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45720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FFC8C8"/>
                </a:solidFill>
                <a:latin typeface="Segoe UI"/>
              </a:defRPr>
            </a:pPr>
            <a:r>
              <a:t>🇻🇪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E8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6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E8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🇺🇿 O‘zbekiston misolida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463040"/>
            <a:ext cx="4114800" cy="822960"/>
          </a:xfrm>
          <a:prstGeom prst="roundRect">
            <a:avLst/>
          </a:prstGeom>
          <a:solidFill>
            <a:srgbClr val="00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🥇 Oltin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63040"/>
            <a:ext cx="4114800" cy="822960"/>
          </a:xfrm>
          <a:prstGeom prst="roundRect">
            <a:avLst/>
          </a:prstGeom>
          <a:solidFill>
            <a:srgbClr val="00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🪙 Mis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60320"/>
            <a:ext cx="4114800" cy="822960"/>
          </a:xfrm>
          <a:prstGeom prst="roundRect">
            <a:avLst/>
          </a:prstGeom>
          <a:solidFill>
            <a:srgbClr val="00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☢️ Uran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560320"/>
            <a:ext cx="4114800" cy="822960"/>
          </a:xfrm>
          <a:prstGeom prst="roundRect">
            <a:avLst/>
          </a:prstGeom>
          <a:solidFill>
            <a:srgbClr val="00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🔥 Tabiiy gaz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5029200"/>
            <a:ext cx="9144000" cy="1188720"/>
          </a:xfrm>
          <a:prstGeom prst="roundRect">
            <a:avLst/>
          </a:prstGeom>
          <a:solidFill>
            <a:srgbClr val="14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C8"/>
                </a:solidFill>
                <a:latin typeface="Segoe UI"/>
              </a:defRPr>
            </a:pPr>
            <a:r>
              <a:t>❓ Bu resurslardan qanday samarali foydalanish mumkin?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0" y="457200"/>
            <a:ext cx="2286000" cy="1828800"/>
          </a:xfrm>
          <a:prstGeom prst="ellipse">
            <a:avLst/>
          </a:prstGeom>
          <a:solidFill>
            <a:srgbClr val="0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 i="0">
                <a:solidFill>
                  <a:srgbClr val="FFFFFF"/>
                </a:solidFill>
                <a:latin typeface="Segoe UI"/>
              </a:defRPr>
            </a:pPr>
            <a:r>
              <a:t>🇺🇿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1914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281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4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507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0" y="457200"/>
            <a:ext cx="1828800" cy="1828800"/>
          </a:xfrm>
          <a:prstGeom prst="ellipse">
            <a:avLst/>
          </a:prstGeom>
          <a:solidFill>
            <a:srgbClr val="3C2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0" y="5029200"/>
            <a:ext cx="1371600" cy="1371600"/>
          </a:xfrm>
          <a:prstGeom prst="ellipse">
            <a:avLst/>
          </a:prstGeom>
          <a:solidFill>
            <a:srgbClr val="5032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B4C8FF"/>
                </a:solidFill>
                <a:latin typeface="Segoe UI"/>
              </a:defRPr>
            </a:pPr>
            <a:r>
              <a:t>🚀 Kelajakda qaysi resurs eng qimmat? 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1645920"/>
            <a:ext cx="5486400" cy="822960"/>
          </a:xfrm>
          <a:prstGeom prst="roundRect">
            <a:avLst/>
          </a:prstGeom>
          <a:solidFill>
            <a:srgbClr val="322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8DCFF"/>
                </a:solidFill>
                <a:latin typeface="Segoe UI"/>
              </a:defRPr>
            </a:pPr>
            <a:r>
              <a:t>📚 Bilim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743200"/>
            <a:ext cx="5486400" cy="822960"/>
          </a:xfrm>
          <a:prstGeom prst="roundRect">
            <a:avLst/>
          </a:prstGeom>
          <a:solidFill>
            <a:srgbClr val="283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8DCFF"/>
                </a:solidFill>
                <a:latin typeface="Segoe UI"/>
              </a:defRPr>
            </a:pPr>
            <a:r>
              <a:t>💻 Texnologiya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840480"/>
            <a:ext cx="5486400" cy="822960"/>
          </a:xfrm>
          <a:prstGeom prst="roundRect">
            <a:avLst/>
          </a:prstGeom>
          <a:solidFill>
            <a:srgbClr val="3C1E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8DCFF"/>
                </a:solidFill>
                <a:latin typeface="Segoe UI"/>
              </a:defRPr>
            </a:pPr>
            <a:r>
              <a:t>🧑‍🎓 Inson kapitali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029200"/>
            <a:ext cx="10058400" cy="1188720"/>
          </a:xfrm>
          <a:prstGeom prst="roundRect">
            <a:avLst/>
          </a:prstGeom>
          <a:solidFill>
            <a:srgbClr val="281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B4DCFF"/>
                </a:solidFill>
                <a:latin typeface="Segoe UI"/>
              </a:defRPr>
            </a:pPr>
            <a:r>
              <a:t>💡 "21-asrning eng muhim resursi - insonning bilimi."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828800"/>
            <a:ext cx="3657600" cy="2743200"/>
          </a:xfrm>
          <a:prstGeom prst="roundRect">
            <a:avLst/>
          </a:prstGeom>
          <a:solidFill>
            <a:srgbClr val="2819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2860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96B4FF"/>
                </a:solidFill>
                <a:latin typeface="Segoe UI"/>
              </a:defRPr>
            </a:pPr>
            <a:r>
              <a:t>💡 AI</a:t>
            </a:r>
            <a:br/>
            <a:r>
              <a:t>🤖 Tech</a:t>
            </a:r>
            <a:br/>
            <a:r>
              <a:t>🔬 Science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C28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78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B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9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0" y="0"/>
            <a:ext cx="182880" cy="6858000"/>
          </a:xfrm>
          <a:prstGeom prst="rect">
            <a:avLst/>
          </a:prstGeom>
          <a:solidFill>
            <a:srgbClr val="FFB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E696"/>
                </a:solidFill>
                <a:latin typeface="Segoe UI"/>
              </a:defRPr>
            </a:pPr>
            <a:r>
              <a:t>💬 Muhokama (Discussion)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737360"/>
            <a:ext cx="731520" cy="731520"/>
          </a:xfrm>
          <a:prstGeom prst="ellipse">
            <a:avLst/>
          </a:prstGeom>
          <a:solidFill>
            <a:srgbClr val="B47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1645920"/>
            <a:ext cx="8686800" cy="1005840"/>
          </a:xfrm>
          <a:prstGeom prst="roundRect">
            <a:avLst/>
          </a:prstGeom>
          <a:solidFill>
            <a:srgbClr val="644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FFF0C8"/>
                </a:solidFill>
                <a:latin typeface="Segoe UI"/>
              </a:defRPr>
            </a:pPr>
            <a:r>
              <a:t>❓ Tabiiy resurslarsiz boy bo‘lish mumkinmi?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200400"/>
            <a:ext cx="731520" cy="731520"/>
          </a:xfrm>
          <a:prstGeom prst="ellipse">
            <a:avLst/>
          </a:prstGeom>
          <a:solidFill>
            <a:srgbClr val="B47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3108960"/>
            <a:ext cx="8686800" cy="1005840"/>
          </a:xfrm>
          <a:prstGeom prst="roundRect">
            <a:avLst/>
          </a:prstGeom>
          <a:solidFill>
            <a:srgbClr val="644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FFF0C8"/>
                </a:solidFill>
                <a:latin typeface="Segoe UI"/>
              </a:defRPr>
            </a:pPr>
            <a:r>
              <a:t>❓ O‘zbekistonda qaysi resursdan yaxshi foydalanilmayapti?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663440"/>
            <a:ext cx="731520" cy="731520"/>
          </a:xfrm>
          <a:prstGeom prst="ellipse">
            <a:avLst/>
          </a:prstGeom>
          <a:solidFill>
            <a:srgbClr val="B47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4572000"/>
            <a:ext cx="8686800" cy="1005840"/>
          </a:xfrm>
          <a:prstGeom prst="roundRect">
            <a:avLst/>
          </a:prstGeom>
          <a:solidFill>
            <a:srgbClr val="644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FFF0C8"/>
                </a:solidFill>
                <a:latin typeface="Segoe UI"/>
              </a:defRPr>
            </a:pPr>
            <a:r>
              <a:t>❓ Siz bosh vazir bo‘lsangiz, resurs daromadlarini nimaga sarflardingiz?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0" y="5029200"/>
            <a:ext cx="1645920" cy="1645920"/>
          </a:xfrm>
          <a:prstGeom prst="ellipse">
            <a:avLst/>
          </a:prstGeom>
          <a:solidFill>
            <a:srgbClr val="C88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0" y="53949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Segoe UI"/>
              </a:defRPr>
            </a:pPr>
            <a:r>
              <a:t>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19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978640" y="0"/>
            <a:ext cx="2286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D4AF37"/>
                </a:solidFill>
                <a:latin typeface="Segoe UI"/>
              </a:defRPr>
            </a:pPr>
            <a:r>
              <a:t>⭐ Xulosa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C8C8DC"/>
                </a:solidFill>
                <a:latin typeface="Segoe UI"/>
              </a:defRPr>
            </a:pPr>
            <a:r>
              <a:t>"Resources can make a country rich, but only good institutions, education, and innovation can make it prosperous in the long run."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0B4"/>
                </a:solidFill>
                <a:latin typeface="Segoe UI"/>
              </a:defRPr>
            </a:pPr>
            <a:r>
              <a:t>🇺🇿 "Resurslar davlatni boy qilishi mumkin, lekin faqat yaxshi institutlar, ta‘lim va innovatsiya uni uzoq muddatda farovon qiladi."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754880"/>
            <a:ext cx="10058400" cy="1371600"/>
          </a:xfrm>
          <a:prstGeom prst="roundRect">
            <a:avLst/>
          </a:prstGeom>
          <a:solidFill>
            <a:srgbClr val="23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C8C8DC"/>
                </a:solidFill>
                <a:latin typeface="Segoe UI"/>
              </a:defRPr>
            </a:pPr>
            <a:r>
              <a:t>📝 Bu mavzu iqtisodiyot, siyosat, tarix va kelajak texnologiyalarini birlashtiradi.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0" y="457200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0" y="5029200"/>
            <a:ext cx="1097280" cy="1097280"/>
          </a:xfrm>
          <a:prstGeom prst="ellipse">
            <a:avLst/>
          </a:prstGeom>
          <a:solidFill>
            <a:srgbClr val="B4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0" y="4114800"/>
            <a:ext cx="2743200" cy="457200"/>
          </a:xfrm>
          <a:prstGeom prst="roundRect">
            <a:avLst/>
          </a:prstGeom>
          <a:solidFill>
            <a:srgbClr val="32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